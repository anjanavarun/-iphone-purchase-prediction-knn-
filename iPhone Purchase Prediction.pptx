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embeddedFontLst>
    <p:embeddedFont>
      <p:font typeface="JetBrains Mono" panose="020B0604020202020204" charset="0"/>
      <p:regular r:id="rId10"/>
      <p:bold r:id="rId11"/>
      <p:italic r:id="rId12"/>
      <p:boldItalic r:id="rId13"/>
    </p:embeddedFont>
    <p:embeddedFont>
      <p:font typeface="Urbanist" panose="020B0604020202020204" charset="0"/>
      <p:regular r:id="rId14"/>
      <p:bold r:id="rId15"/>
      <p:italic r:id="rId16"/>
      <p:boldItalic r:id="rId17"/>
    </p:embeddedFont>
    <p:embeddedFont>
      <p:font typeface="Urbanist SemiBold" panose="020B0604020202020204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729037" y="4726185"/>
            <a:ext cx="4733925" cy="41910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571500" y="1131689"/>
            <a:ext cx="110490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10B981"/>
                </a:solidFill>
                <a:latin typeface="Urbanist SemiBold"/>
                <a:ea typeface="Urbanist SemiBold"/>
                <a:cs typeface="Urbanist SemiBold"/>
                <a:sym typeface="Urbanist SemiBold"/>
              </a:rPr>
              <a:t>CONSUMER BEHAVIOR ANALYTICS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95275" y="1503164"/>
            <a:ext cx="11601450" cy="17180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iPhone Purchase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615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Prediction Model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2047875" y="3602235"/>
            <a:ext cx="8096250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Deploying K-Nearest Neighbors (KNN) classification to predict premium device conversion based on demographic and financial profiles.</a:t>
            </a:r>
            <a:endParaRPr/>
          </a:p>
        </p:txBody>
      </p:sp>
      <p:pic>
        <p:nvPicPr>
          <p:cNvPr id="90" name="Google Shape;90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34792" y="4850010"/>
            <a:ext cx="17145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8575" y="85725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243840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Business Goal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2905125"/>
            <a:ext cx="5286375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Optimize digital marketing ROI by identifying which consumers are statistically most likely to purchase a premium product (iPhone) based on their age and salary, allowing for hyper-targeted ad spend.</a:t>
            </a:r>
            <a:endParaRPr/>
          </a:p>
        </p:txBody>
      </p:sp>
      <p:pic>
        <p:nvPicPr>
          <p:cNvPr id="100" name="Google Shape;100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534" y="24098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5817" y="4571804"/>
            <a:ext cx="200025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4"/>
          <p:cNvSpPr txBox="1"/>
          <p:nvPr/>
        </p:nvSpPr>
        <p:spPr>
          <a:xfrm>
            <a:off x="1141808" y="4571804"/>
            <a:ext cx="441007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Dataset: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~400 records, 4 variables (Gender, Age, Salary, </a:t>
            </a:r>
            <a:r>
              <a:rPr lang="en-US" sz="1500" b="0" i="0" u="none" strike="noStrike" cap="none" dirty="0" err="1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Purchase_Iphone</a:t>
            </a:r>
            <a:r>
              <a:rPr lang="en-US" sz="1500" b="0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dirty="0"/>
          </a:p>
        </p:txBody>
      </p:sp>
      <p:sp>
        <p:nvSpPr>
          <p:cNvPr id="105" name="Google Shape;105;p14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PROJECT OBJECTIVE &amp; DATASET OVERVIEW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8C8D0C4-8A39-6A50-E234-97031C31AEE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5116" y="1266927"/>
            <a:ext cx="4141326" cy="501957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09338" y="1981200"/>
            <a:ext cx="4762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334125" y="2038350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Discovering Relationships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6496050" y="250507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6572250" y="2505075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Financial Capacity: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Visualizations (Heatmaps &amp; Regression plots) confirm a strict correlation between high Salary and purchase probability.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6496050" y="3638550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6572250" y="3638550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Demographic Shift: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Age is a significant driving factor; older demographics in this dataset show a notably higher propensity to purchase the device.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6496050" y="4772025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6572250" y="4772025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Gender Neutrality: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Gender demonstrated minimal to zero statistical variance regarding purchase likelihood.</a:t>
            </a: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EXPLORATORY DATA ANALYSIS (EDA)</a:t>
            </a: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2F221B8-9098-8CCF-5F2F-29E2BA9041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867" y="1139976"/>
            <a:ext cx="2987392" cy="298739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D6E494B-0AB1-EC0F-AA68-D56A86EB5D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9126" y="3177175"/>
            <a:ext cx="2969103" cy="29691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714375" y="1881187"/>
            <a:ext cx="514350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Algorithm Choice:</a:t>
            </a:r>
            <a:r>
              <a:rPr lang="en-US" sz="15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KNN relies on feature similarity. By scaling the data, the model maps new customers to their "nearest neighbors" in Age and Salary to predict their buying behavior.</a:t>
            </a:r>
            <a:endParaRPr/>
          </a:p>
        </p:txBody>
      </p:sp>
      <p:sp>
        <p:nvSpPr>
          <p:cNvPr id="134" name="Google Shape;134;p16"/>
          <p:cNvSpPr/>
          <p:nvPr/>
        </p:nvSpPr>
        <p:spPr>
          <a:xfrm>
            <a:off x="571500" y="1881187"/>
            <a:ext cx="38100" cy="12192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35525" y="5781675"/>
            <a:ext cx="71437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6"/>
          <p:cNvSpPr txBox="1"/>
          <p:nvPr/>
        </p:nvSpPr>
        <p:spPr>
          <a:xfrm>
            <a:off x="7028741" y="5781675"/>
            <a:ext cx="47307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Optimal Architecture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7435525" y="6115425"/>
            <a:ext cx="4505400" cy="23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KNN Classifier (K=11)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733425" y="32908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809625" y="3290887"/>
            <a:ext cx="504825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Train/Test Split: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80/20 train-test split applied.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733425" y="3795712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809625" y="3795712"/>
            <a:ext cx="5048250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Feature Scaling: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Applied StandardScaler to ensure large Salary numbers did not mathematically overpower the Age feature in distance calculations.</a:t>
            </a:r>
            <a:endParaRPr/>
          </a:p>
        </p:txBody>
      </p:sp>
      <p:sp>
        <p:nvSpPr>
          <p:cNvPr id="142" name="Google Shape;142;p16"/>
          <p:cNvSpPr txBox="1"/>
          <p:nvPr/>
        </p:nvSpPr>
        <p:spPr>
          <a:xfrm>
            <a:off x="733425" y="4929187"/>
            <a:ext cx="7620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▪</a:t>
            </a:r>
            <a:endParaRPr/>
          </a:p>
        </p:txBody>
      </p:sp>
      <p:sp>
        <p:nvSpPr>
          <p:cNvPr id="143" name="Google Shape;143;p16"/>
          <p:cNvSpPr txBox="1"/>
          <p:nvPr/>
        </p:nvSpPr>
        <p:spPr>
          <a:xfrm>
            <a:off x="809625" y="4929187"/>
            <a:ext cx="5048250" cy="628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762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Hyperparameter Tuning: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Identified </a:t>
            </a: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K=11</a:t>
            </a: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as the optimal neighbor count for maximum accuracy.</a:t>
            </a:r>
            <a:endParaRPr/>
          </a:p>
        </p:txBody>
      </p:sp>
      <p:sp>
        <p:nvSpPr>
          <p:cNvPr id="144" name="Google Shape;144;p16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MODELING STRATEGY: K-NEAREST NEIGHBORS</a:t>
            </a:r>
            <a:endParaRPr/>
          </a:p>
        </p:txBody>
      </p:sp>
      <p:sp>
        <p:nvSpPr>
          <p:cNvPr id="146" name="Google Shape;146;p16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06B7677-DD3B-3A47-EFD5-432A601482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4075" y="1632727"/>
            <a:ext cx="6172517" cy="38546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290887"/>
            <a:ext cx="11049000" cy="278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1557337"/>
            <a:ext cx="3492549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799" y="1557337"/>
            <a:ext cx="3492549" cy="14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128099" y="1557337"/>
            <a:ext cx="3492549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866775" y="3586162"/>
            <a:ext cx="10981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Metric Inference: Zero False Negatives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66775" y="3948112"/>
            <a:ext cx="10458450" cy="18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The most critical finding is the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Recall of 1.00 (100%)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for actual purchasers. This means the model successfully identified </a:t>
            </a:r>
            <a:r>
              <a:rPr lang="en-US" sz="1500" b="0" i="1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every single customer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who bought an iPhone. It missed absolutely no one.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 The trade-off is a </a:t>
            </a:r>
            <a:r>
              <a:rPr lang="en-US" sz="1500" b="1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Precision of 0.78</a:t>
            </a: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, indicating that the model generated 8 "False Positives" (targeting 8 people who ultimately did not buy). In a marketing context, this is a highly favorable trade-off: capturing 100% of the revenue opportunity while absorbing a minor efficiency loss in ad spend.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66775" y="1852612"/>
            <a:ext cx="29019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89.47%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1412825" y="2500312"/>
            <a:ext cx="18097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OVERALL ACCURACY</a:t>
            </a:r>
            <a:endParaRPr/>
          </a:p>
        </p:txBody>
      </p:sp>
      <p:sp>
        <p:nvSpPr>
          <p:cNvPr id="160" name="Google Shape;160;p17"/>
          <p:cNvSpPr txBox="1"/>
          <p:nvPr/>
        </p:nvSpPr>
        <p:spPr>
          <a:xfrm>
            <a:off x="4645074" y="1852612"/>
            <a:ext cx="29019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10B981"/>
                </a:solidFill>
                <a:latin typeface="Urbanist"/>
                <a:ea typeface="Urbanist"/>
                <a:cs typeface="Urbanist"/>
                <a:sym typeface="Urbanist"/>
              </a:rPr>
              <a:t>1.00</a:t>
            </a:r>
            <a:endParaRPr/>
          </a:p>
        </p:txBody>
      </p:sp>
      <p:sp>
        <p:nvSpPr>
          <p:cNvPr id="161" name="Google Shape;161;p17"/>
          <p:cNvSpPr txBox="1"/>
          <p:nvPr/>
        </p:nvSpPr>
        <p:spPr>
          <a:xfrm>
            <a:off x="5114925" y="2500312"/>
            <a:ext cx="196215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RECALL (PURCHASERS)</a:t>
            </a:r>
            <a:endParaRPr/>
          </a:p>
        </p:txBody>
      </p:sp>
      <p:sp>
        <p:nvSpPr>
          <p:cNvPr id="162" name="Google Shape;162;p17"/>
          <p:cNvSpPr txBox="1"/>
          <p:nvPr/>
        </p:nvSpPr>
        <p:spPr>
          <a:xfrm>
            <a:off x="8423374" y="1852612"/>
            <a:ext cx="2901999" cy="552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EF4444"/>
                </a:solidFill>
                <a:latin typeface="Urbanist"/>
                <a:ea typeface="Urbanist"/>
                <a:cs typeface="Urbanist"/>
                <a:sym typeface="Urbanist"/>
              </a:rPr>
              <a:t>0.78</a:t>
            </a:r>
            <a:endParaRPr/>
          </a:p>
        </p:txBody>
      </p:sp>
      <p:sp>
        <p:nvSpPr>
          <p:cNvPr id="163" name="Google Shape;163;p17"/>
          <p:cNvSpPr txBox="1"/>
          <p:nvPr/>
        </p:nvSpPr>
        <p:spPr>
          <a:xfrm>
            <a:off x="8769399" y="2500312"/>
            <a:ext cx="2209800" cy="209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PRECISION (PURCHASERS)</a:t>
            </a:r>
            <a:endParaRPr/>
          </a:p>
        </p:txBody>
      </p:sp>
      <p:sp>
        <p:nvSpPr>
          <p:cNvPr id="164" name="Google Shape;164;p17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7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PERFORMANCE METRICS &amp; BUSINESS INFERENCE</a:t>
            </a:r>
            <a:endParaRPr/>
          </a:p>
        </p:txBody>
      </p:sp>
      <p:sp>
        <p:nvSpPr>
          <p:cNvPr id="166" name="Google Shape;166;p17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34125" y="2543175"/>
            <a:ext cx="5286375" cy="2543175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8"/>
          <p:cNvSpPr txBox="1"/>
          <p:nvPr/>
        </p:nvSpPr>
        <p:spPr>
          <a:xfrm>
            <a:off x="571500" y="3005137"/>
            <a:ext cx="5550693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Profiling Engine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571500" y="3519487"/>
            <a:ext cx="5286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Marketing teams can feed prospective customer profiles into the pipeline to receive a binary purchase prediction alongside a statistical confidence score.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657975" y="2828925"/>
            <a:ext cx="46767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--- iPhone Purchase Predictor ---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6657975" y="3124200"/>
            <a:ext cx="46767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Enter Customer Age: </a:t>
            </a:r>
            <a:r>
              <a:rPr lang="en-US" sz="1200" b="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54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6657975" y="3371850"/>
            <a:ext cx="46767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Enter Customer Salary: </a:t>
            </a:r>
            <a:r>
              <a:rPr lang="en-US" sz="1200" b="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200000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6657975" y="3619500"/>
            <a:ext cx="46767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FFFFFF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&gt; Enter Gender: </a:t>
            </a:r>
            <a:r>
              <a:rPr lang="en-US" sz="1200" b="0" i="0" u="none" strike="noStrike" cap="none">
                <a:solidFill>
                  <a:schemeClr val="dk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Female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6657975" y="4010025"/>
            <a:ext cx="4676775" cy="49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0B98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Result: This customer is likely to PURCHASE an iPhone.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6657975" y="4600575"/>
            <a:ext cx="46767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Confidence Score: 90.91%</a:t>
            </a: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LIVE INFERENCE: TARGETING THE CUSTOMER</a:t>
            </a: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90787"/>
            <a:ext cx="3524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33875" y="2490787"/>
            <a:ext cx="3524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096250" y="2490787"/>
            <a:ext cx="3524250" cy="2647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2862262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19"/>
          <p:cNvSpPr txBox="1"/>
          <p:nvPr/>
        </p:nvSpPr>
        <p:spPr>
          <a:xfrm>
            <a:off x="914400" y="3433762"/>
            <a:ext cx="2980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Model Accuracy</a:t>
            </a:r>
            <a:endParaRPr/>
          </a:p>
        </p:txBody>
      </p:sp>
      <p:sp>
        <p:nvSpPr>
          <p:cNvPr id="194" name="Google Shape;194;p19"/>
          <p:cNvSpPr txBox="1"/>
          <p:nvPr/>
        </p:nvSpPr>
        <p:spPr>
          <a:xfrm>
            <a:off x="914400" y="3748087"/>
            <a:ext cx="283845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Achieved </a:t>
            </a:r>
            <a:r>
              <a:rPr lang="en-US" sz="13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89.47% accuracy</a:t>
            </a: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 with a remarkable 100% recall rate, meaning zero missed revenue opportunities among the target demographic.</a:t>
            </a:r>
            <a:endParaRPr/>
          </a:p>
        </p:txBody>
      </p:sp>
      <p:pic>
        <p:nvPicPr>
          <p:cNvPr id="195" name="Google Shape;195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76775" y="2862262"/>
            <a:ext cx="28575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4676775" y="3433762"/>
            <a:ext cx="2980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Key Takeaway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4676775" y="3748087"/>
            <a:ext cx="2838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Age and Salary strictly dictate premium purchasing power. This KNN architecture serves as a highly reliable filter for programmatic advertising systems.</a:t>
            </a:r>
            <a:endParaRPr/>
          </a:p>
        </p:txBody>
      </p:sp>
      <p:pic>
        <p:nvPicPr>
          <p:cNvPr id="198" name="Google Shape;198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39150" y="2862262"/>
            <a:ext cx="2381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19"/>
          <p:cNvSpPr txBox="1"/>
          <p:nvPr/>
        </p:nvSpPr>
        <p:spPr>
          <a:xfrm>
            <a:off x="8439150" y="3433762"/>
            <a:ext cx="298037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Next Steps</a:t>
            </a:r>
            <a:endParaRPr/>
          </a:p>
        </p:txBody>
      </p:sp>
      <p:sp>
        <p:nvSpPr>
          <p:cNvPr id="200" name="Google Shape;200;p19"/>
          <p:cNvSpPr txBox="1"/>
          <p:nvPr/>
        </p:nvSpPr>
        <p:spPr>
          <a:xfrm>
            <a:off x="8439150" y="3748087"/>
            <a:ext cx="2838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Deploy this logic to filter live digital ad audiences. Next iteration: test ensemble methods (Random Forest) to improve the 0.78 precision and reduce wasted ad spend.</a:t>
            </a:r>
            <a:endParaRPr/>
          </a:p>
        </p:txBody>
      </p:sp>
      <p:sp>
        <p:nvSpPr>
          <p:cNvPr id="201" name="Google Shape;201;p19"/>
          <p:cNvSpPr/>
          <p:nvPr/>
        </p:nvSpPr>
        <p:spPr>
          <a:xfrm>
            <a:off x="571500" y="6467475"/>
            <a:ext cx="11049000" cy="9525"/>
          </a:xfrm>
          <a:prstGeom prst="rect">
            <a:avLst/>
          </a:prstGeom>
          <a:solidFill>
            <a:srgbClr val="94A3B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762000" y="571500"/>
            <a:ext cx="11401425" cy="485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CONCLUSION &amp; NEXT STEPS</a:t>
            </a:r>
            <a:endParaRPr/>
          </a:p>
        </p:txBody>
      </p:sp>
      <p:sp>
        <p:nvSpPr>
          <p:cNvPr id="203" name="Google Shape;203;p19"/>
          <p:cNvSpPr/>
          <p:nvPr/>
        </p:nvSpPr>
        <p:spPr>
          <a:xfrm>
            <a:off x="571500" y="571500"/>
            <a:ext cx="57150" cy="48577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532</Words>
  <Application>Microsoft Office PowerPoint</Application>
  <PresentationFormat>Widescreen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JetBrains Mono</vt:lpstr>
      <vt:lpstr>Calibri</vt:lpstr>
      <vt:lpstr>Arial</vt:lpstr>
      <vt:lpstr>Urbanist</vt:lpstr>
      <vt:lpstr>Urbanist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Lenovo</cp:lastModifiedBy>
  <cp:revision>1</cp:revision>
  <dcterms:modified xsi:type="dcterms:W3CDTF">2026-05-12T09:49:11Z</dcterms:modified>
</cp:coreProperties>
</file>